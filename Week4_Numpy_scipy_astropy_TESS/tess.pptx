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 Mon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.fntdata"/><Relationship Id="rId6" Type="http://schemas.openxmlformats.org/officeDocument/2006/relationships/slide" Target="slides/slide1.xml"/><Relationship Id="rId18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5ed326f7a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5ed326f7a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5ed326f7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5ed326f7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5ed326f7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5ed326f7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5ed326f7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5ed326f7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5ed326f7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5ed326f7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5ed326f7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5ed326f7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5ed326f7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5ed326f7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5ed326f7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5ed326f7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5ed326f7a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5ed326f7a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5ed326f7a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5ed326f7a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5ed326f7a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5ed326f7a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A2C4C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9052800" cy="42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</a:rPr>
              <a:t> What is TESS?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Transiting Exoplanet Survey Satellite (TESS)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TESS is a </a:t>
            </a:r>
            <a:r>
              <a:rPr b="1" lang="en" sz="1100">
                <a:solidFill>
                  <a:schemeClr val="dk1"/>
                </a:solidFill>
              </a:rPr>
              <a:t>NASA space telescope</a:t>
            </a:r>
            <a:r>
              <a:rPr lang="en" sz="1100">
                <a:solidFill>
                  <a:schemeClr val="dk1"/>
                </a:solidFill>
              </a:rPr>
              <a:t> launched on </a:t>
            </a:r>
            <a:r>
              <a:rPr b="1" lang="en" sz="1100">
                <a:solidFill>
                  <a:schemeClr val="dk1"/>
                </a:solidFill>
              </a:rPr>
              <a:t>18 April 2018</a:t>
            </a:r>
            <a:r>
              <a:rPr lang="en" sz="1100">
                <a:solidFill>
                  <a:schemeClr val="dk1"/>
                </a:solidFill>
              </a:rPr>
              <a:t> to search for planets outside our Solar System.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Unlike traditional telescopes that take detailed images of planets, </a:t>
            </a:r>
            <a:r>
              <a:rPr b="1" lang="en" sz="1100">
                <a:solidFill>
                  <a:schemeClr val="dk1"/>
                </a:solidFill>
              </a:rPr>
              <a:t>TESS continuously monitors the brightness of millions of stars</a:t>
            </a:r>
            <a:r>
              <a:rPr lang="en" sz="1100">
                <a:solidFill>
                  <a:schemeClr val="dk1"/>
                </a:solidFill>
              </a:rPr>
              <a:t>. When a planet passes in front of a star, it blocks a small amount of light, creating a tiny dip in brightness called a </a:t>
            </a:r>
            <a:r>
              <a:rPr b="1" lang="en" sz="1100">
                <a:solidFill>
                  <a:schemeClr val="dk1"/>
                </a:solidFill>
              </a:rPr>
              <a:t>transit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By detecting these repeating dips, astronomers can identify and study </a:t>
            </a:r>
            <a:r>
              <a:rPr b="1" lang="en" sz="1100">
                <a:solidFill>
                  <a:schemeClr val="dk1"/>
                </a:solidFill>
              </a:rPr>
              <a:t>exoplanets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Key Facts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Agency:</a:t>
            </a:r>
            <a:r>
              <a:rPr lang="en" sz="1100">
                <a:solidFill>
                  <a:schemeClr val="dk1"/>
                </a:solidFill>
              </a:rPr>
              <a:t> NASA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Launch Date:</a:t>
            </a:r>
            <a:r>
              <a:rPr lang="en" sz="1100">
                <a:solidFill>
                  <a:schemeClr val="dk1"/>
                </a:solidFill>
              </a:rPr>
              <a:t> 18 April 2018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Mission:</a:t>
            </a:r>
            <a:r>
              <a:rPr lang="en" sz="1100">
                <a:solidFill>
                  <a:schemeClr val="dk1"/>
                </a:solidFill>
              </a:rPr>
              <a:t> Search for transiting exoplanets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Observes:</a:t>
            </a:r>
            <a:r>
              <a:rPr lang="en" sz="1100">
                <a:solidFill>
                  <a:schemeClr val="dk1"/>
                </a:solidFill>
              </a:rPr>
              <a:t> Millions of nearby bright stars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Main Data Product:</a:t>
            </a:r>
            <a:r>
              <a:rPr lang="en" sz="1100">
                <a:solidFill>
                  <a:schemeClr val="dk1"/>
                </a:solidFill>
              </a:rPr>
              <a:t> Light Curves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4294967295" type="subTitle"/>
          </p:nvPr>
        </p:nvSpPr>
        <p:spPr>
          <a:xfrm>
            <a:off x="311700" y="74550"/>
            <a:ext cx="8520600" cy="48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</a:rPr>
            </a:b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NumPy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np</a:t>
            </a:r>
            <a:r>
              <a:rPr b="1" lang="en" sz="1100">
                <a:solidFill>
                  <a:srgbClr val="000000"/>
                </a:solidFill>
              </a:rPr>
              <a:t>)</a:t>
            </a:r>
            <a:r>
              <a:rPr lang="en" sz="1400">
                <a:solidFill>
                  <a:srgbClr val="000000"/>
                </a:solidFill>
              </a:rPr>
              <a:t>Performs mathematical calculations and handles data.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Matplotlib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plt</a:t>
            </a:r>
            <a:r>
              <a:rPr b="1" lang="en" sz="1100">
                <a:solidFill>
                  <a:srgbClr val="000000"/>
                </a:solidFill>
              </a:rPr>
              <a:t>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Creates graphs and visualises data.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Lightkurve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lk</a:t>
            </a:r>
            <a:r>
              <a:rPr b="1" lang="en" sz="1100">
                <a:solidFill>
                  <a:srgbClr val="000000"/>
                </a:solidFill>
              </a:rPr>
              <a:t>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Downloads and analyses TESS light curves.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Astropy Units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</a:t>
            </a:r>
            <a:r>
              <a:rPr b="1" lang="en" sz="1100">
                <a:solidFill>
                  <a:srgbClr val="000000"/>
                </a:solidFill>
              </a:rPr>
              <a:t>)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Handles astronomical units such as days, seconds, and distances.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828" y="285575"/>
            <a:ext cx="2981100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4294967295" type="body"/>
          </p:nvPr>
        </p:nvSpPr>
        <p:spPr>
          <a:xfrm>
            <a:off x="311700" y="-173925"/>
            <a:ext cx="8520600" cy="44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What does this code do?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Searches the </a:t>
            </a: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TESS archive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observations of </a:t>
            </a: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 Mensae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Finds available </a:t>
            </a: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 curve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Returns a list of observations.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Breakdown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"Pi Mensae"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Target star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mission="TESS"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Search only TESS observations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author="SPOC"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Use NASA's processed light curves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is this step important?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analysing a star, we must first </a:t>
            </a: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its observations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the TESS archive.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1200" y="1421725"/>
            <a:ext cx="2981100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1700" y="231925"/>
            <a:ext cx="8520600" cy="43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What does this code do?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Searches the </a:t>
            </a:r>
            <a:r>
              <a:rPr b="1" lang="en" sz="1100">
                <a:solidFill>
                  <a:schemeClr val="dk1"/>
                </a:solidFill>
              </a:rPr>
              <a:t>NASA TESS archive</a:t>
            </a:r>
            <a:r>
              <a:rPr lang="en" sz="1100">
                <a:solidFill>
                  <a:schemeClr val="dk1"/>
                </a:solidFill>
              </a:rPr>
              <a:t> for </a:t>
            </a:r>
            <a:r>
              <a:rPr b="1" lang="en" sz="1100">
                <a:solidFill>
                  <a:schemeClr val="dk1"/>
                </a:solidFill>
              </a:rPr>
              <a:t>Pi Mensae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Finds all available </a:t>
            </a:r>
            <a:r>
              <a:rPr b="1" lang="en" sz="1100">
                <a:solidFill>
                  <a:schemeClr val="dk1"/>
                </a:solidFill>
              </a:rPr>
              <a:t>light curve observations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Returns a table of available datasets.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3000" y="182225"/>
            <a:ext cx="3886200" cy="135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475" y="2012675"/>
            <a:ext cx="2550625" cy="14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5825" y="2062375"/>
            <a:ext cx="3886200" cy="182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32525"/>
            <a:ext cx="8520600" cy="47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What does this code do?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Downloads the </a:t>
            </a:r>
            <a:r>
              <a:rPr b="1" lang="en" sz="1100">
                <a:solidFill>
                  <a:schemeClr val="dk1"/>
                </a:solidFill>
              </a:rPr>
              <a:t>first available TESS observation</a:t>
            </a:r>
            <a:r>
              <a:rPr lang="en" sz="1100">
                <a:solidFill>
                  <a:schemeClr val="dk1"/>
                </a:solidFill>
              </a:rPr>
              <a:t>of Pi Mensae.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Stores the data in the variable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lc</a:t>
            </a:r>
            <a:r>
              <a:rPr lang="en" sz="1100">
                <a:solidFill>
                  <a:schemeClr val="dk1"/>
                </a:solidFill>
              </a:rPr>
              <a:t> (light curve).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Plots the star's </a:t>
            </a:r>
            <a:r>
              <a:rPr b="1" lang="en" sz="1100">
                <a:solidFill>
                  <a:schemeClr val="dk1"/>
                </a:solidFill>
              </a:rPr>
              <a:t>brightness (flux) versus time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Understanding the Plot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X-axis:</a:t>
            </a:r>
            <a:r>
              <a:rPr lang="en" sz="1100">
                <a:solidFill>
                  <a:schemeClr val="dk1"/>
                </a:solidFill>
              </a:rPr>
              <a:t> Observation Time (BTJD days)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Y-axis:</a:t>
            </a:r>
            <a:r>
              <a:rPr lang="en" sz="1100">
                <a:solidFill>
                  <a:schemeClr val="dk1"/>
                </a:solidFill>
              </a:rPr>
              <a:t> Stellar Brightness (Flux)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Each point represents one brightness measurement recorded by TESS.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chemeClr val="dk1"/>
                </a:solidFill>
              </a:rPr>
              <a:t>gap</a:t>
            </a:r>
            <a:r>
              <a:rPr lang="en" sz="1100">
                <a:solidFill>
                  <a:schemeClr val="dk1"/>
                </a:solidFill>
              </a:rPr>
              <a:t> in the middle indicates a period when TESS was not observing the star.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Small fluctuations are normal and may be caused by </a:t>
            </a:r>
            <a:r>
              <a:rPr b="1" lang="en" sz="1100">
                <a:solidFill>
                  <a:schemeClr val="dk1"/>
                </a:solidFill>
              </a:rPr>
              <a:t>instrumental noise or natural stellar variability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2400" y="3139100"/>
            <a:ext cx="4820475" cy="182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32525"/>
            <a:ext cx="8520600" cy="48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What does this code do?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Selects the </a:t>
            </a:r>
            <a:r>
              <a:rPr b="1" lang="en" sz="1100">
                <a:solidFill>
                  <a:schemeClr val="dk1"/>
                </a:solidFill>
              </a:rPr>
              <a:t>PDCSAP Flux</a:t>
            </a:r>
            <a:r>
              <a:rPr lang="en" sz="1100">
                <a:solidFill>
                  <a:schemeClr val="dk1"/>
                </a:solidFill>
              </a:rPr>
              <a:t> from the downloaded light curve.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Uses the </a:t>
            </a:r>
            <a:r>
              <a:rPr b="1" lang="en" sz="1100">
                <a:solidFill>
                  <a:schemeClr val="dk1"/>
                </a:solidFill>
              </a:rPr>
              <a:t>corrected brightness measurements</a:t>
            </a:r>
            <a:r>
              <a:rPr lang="en" sz="1100">
                <a:solidFill>
                  <a:schemeClr val="dk1"/>
                </a:solidFill>
              </a:rPr>
              <a:t> provided by the TESS pipeline.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Removes many instrumental effects and systematic trends.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UNDERSTANDING THE OUTPUT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Why use PDCSAP Flux?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Cleaner than the raw SAP Flux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Instrumental noise is reduced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Better for detecting exoplanet transits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4625" y="378900"/>
            <a:ext cx="30861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75" y="1518200"/>
            <a:ext cx="4092024" cy="159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9250" y="3348025"/>
            <a:ext cx="5474799" cy="118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25" y="1974575"/>
            <a:ext cx="6333299" cy="29974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0" y="0"/>
            <a:ext cx="5400300" cy="11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does this code do?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Plots the light curve as </a:t>
            </a:r>
            <a:r>
              <a:rPr b="1" lang="en" sz="1100">
                <a:solidFill>
                  <a:schemeClr val="dk1"/>
                </a:solidFill>
              </a:rPr>
              <a:t>individual data points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Each dot represents </a:t>
            </a:r>
            <a:r>
              <a:rPr b="1" lang="en" sz="1100">
                <a:solidFill>
                  <a:schemeClr val="dk1"/>
                </a:solidFill>
              </a:rPr>
              <a:t>one brightness measurement</a:t>
            </a:r>
            <a:r>
              <a:rPr lang="en" sz="1100">
                <a:solidFill>
                  <a:schemeClr val="dk1"/>
                </a:solidFill>
              </a:rPr>
              <a:t> recorded by TESS.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Helps us examine the distribution of the observations.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5" name="Google Shape;95;p19"/>
          <p:cNvSpPr txBox="1"/>
          <p:nvPr/>
        </p:nvSpPr>
        <p:spPr>
          <a:xfrm flipH="1">
            <a:off x="6717300" y="1134725"/>
            <a:ext cx="2426700" cy="3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Understanding the Plot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X-axis:</a:t>
            </a:r>
            <a:r>
              <a:rPr lang="en" sz="1100">
                <a:solidFill>
                  <a:schemeClr val="dk1"/>
                </a:solidFill>
              </a:rPr>
              <a:t> Observation Time (BTJD days)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Y-axis:</a:t>
            </a:r>
            <a:r>
              <a:rPr lang="en" sz="1100">
                <a:solidFill>
                  <a:schemeClr val="dk1"/>
                </a:solidFill>
              </a:rPr>
              <a:t> Stellar Brightness (Flux)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Each </a:t>
            </a:r>
            <a:r>
              <a:rPr b="1" lang="en" sz="1100">
                <a:solidFill>
                  <a:schemeClr val="dk1"/>
                </a:solidFill>
              </a:rPr>
              <a:t>dot</a:t>
            </a:r>
            <a:r>
              <a:rPr lang="en" sz="1100">
                <a:solidFill>
                  <a:schemeClr val="dk1"/>
                </a:solidFill>
              </a:rPr>
              <a:t> represents one observation.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chemeClr val="dk1"/>
                </a:solidFill>
              </a:rPr>
              <a:t>gap</a:t>
            </a:r>
            <a:r>
              <a:rPr lang="en" sz="1100">
                <a:solidFill>
                  <a:schemeClr val="dk1"/>
                </a:solidFill>
              </a:rPr>
              <a:t> in the middle indicates a break in observations.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 few isolated points are </a:t>
            </a:r>
            <a:r>
              <a:rPr b="1" lang="en" sz="1100">
                <a:solidFill>
                  <a:schemeClr val="dk1"/>
                </a:solidFill>
              </a:rPr>
              <a:t>outliers</a:t>
            </a:r>
            <a:r>
              <a:rPr lang="en" sz="1100">
                <a:solidFill>
                  <a:schemeClr val="dk1"/>
                </a:solidFill>
              </a:rPr>
              <a:t> caused by noise or measurement errors.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6" name="Google Shape;96;p19"/>
          <p:cNvSpPr txBox="1"/>
          <p:nvPr/>
        </p:nvSpPr>
        <p:spPr>
          <a:xfrm flipH="1">
            <a:off x="-422400" y="1198200"/>
            <a:ext cx="422400" cy="30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Why use a Scatter Plot?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Makes it easier to identify </a:t>
            </a:r>
            <a:r>
              <a:rPr b="1" lang="en" sz="1100">
                <a:solidFill>
                  <a:schemeClr val="dk1"/>
                </a:solidFill>
              </a:rPr>
              <a:t>outliers</a:t>
            </a:r>
            <a:r>
              <a:rPr lang="en" sz="1100">
                <a:solidFill>
                  <a:schemeClr val="dk1"/>
                </a:solidFill>
              </a:rPr>
              <a:t> and noisy measurements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Shows the true distribution of the data.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Useful before cleaning and analysing the light curve.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/>
          <p:cNvPicPr preferRelativeResize="0"/>
          <p:nvPr/>
        </p:nvPicPr>
        <p:blipFill rotWithShape="1">
          <a:blip r:embed="rId3">
            <a:alphaModFix/>
          </a:blip>
          <a:srcRect b="0" l="0" r="0" t="3466"/>
          <a:stretch/>
        </p:blipFill>
        <p:spPr>
          <a:xfrm>
            <a:off x="4310275" y="1697925"/>
            <a:ext cx="4618376" cy="299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0" y="0"/>
            <a:ext cx="89286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BLS?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BLS (Box Least Squares) is an algorithm used to search for repeating transit signals in a light curve.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tests thousands of possible orbital periods and finds the one that best matches a repeating dip in brightness.</a:t>
            </a:r>
            <a:endParaRPr/>
          </a:p>
        </p:txBody>
      </p:sp>
      <p:sp>
        <p:nvSpPr>
          <p:cNvPr id="103" name="Google Shape;103;p20"/>
          <p:cNvSpPr txBox="1"/>
          <p:nvPr/>
        </p:nvSpPr>
        <p:spPr>
          <a:xfrm>
            <a:off x="0" y="1466025"/>
            <a:ext cx="3279900" cy="22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Understanding the Plot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X-axis:</a:t>
            </a:r>
            <a:r>
              <a:rPr lang="en" sz="1100">
                <a:solidFill>
                  <a:schemeClr val="dk1"/>
                </a:solidFill>
              </a:rPr>
              <a:t> Trial orbital period (days)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Y-axis:</a:t>
            </a:r>
            <a:r>
              <a:rPr lang="en" sz="1100">
                <a:solidFill>
                  <a:schemeClr val="dk1"/>
                </a:solidFill>
              </a:rPr>
              <a:t> BLS Power (strength of the transit signal)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Highest peak</a:t>
            </a:r>
            <a:r>
              <a:rPr lang="en" sz="1100">
                <a:solidFill>
                  <a:schemeClr val="dk1"/>
                </a:solidFill>
              </a:rPr>
              <a:t> → Most likely orbital period of the planet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📍 </a:t>
            </a:r>
            <a:r>
              <a:rPr b="1" lang="en" sz="1100">
                <a:solidFill>
                  <a:schemeClr val="dk1"/>
                </a:solidFill>
              </a:rPr>
              <a:t>Detected Orbital Period: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6.264 days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📍 </a:t>
            </a:r>
            <a:r>
              <a:rPr b="1" lang="en" sz="1100">
                <a:solidFill>
                  <a:schemeClr val="dk1"/>
                </a:solidFill>
              </a:rPr>
              <a:t>Estimated First Transit: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BTJD 1325.51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0" y="3751125"/>
            <a:ext cx="4000500" cy="13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does this mean?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strongest peak at </a:t>
            </a:r>
            <a:r>
              <a:rPr b="1" lang="en" sz="1100">
                <a:solidFill>
                  <a:schemeClr val="dk1"/>
                </a:solidFill>
              </a:rPr>
              <a:t>6.264 days</a:t>
            </a:r>
            <a:r>
              <a:rPr lang="en" sz="1100">
                <a:solidFill>
                  <a:schemeClr val="dk1"/>
                </a:solidFill>
              </a:rPr>
              <a:t> suggests that the planet passes in front of its star </a:t>
            </a:r>
            <a:r>
              <a:rPr b="1" lang="en" sz="1100">
                <a:solidFill>
                  <a:schemeClr val="dk1"/>
                </a:solidFill>
              </a:rPr>
              <a:t>once every 6.264 days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This is our </a:t>
            </a:r>
            <a:r>
              <a:rPr b="1" lang="en" sz="1100">
                <a:solidFill>
                  <a:schemeClr val="dk1"/>
                </a:solidFill>
              </a:rPr>
              <a:t>first evidence of a repeating transit signal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997175" cy="233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/>
        </p:nvSpPr>
        <p:spPr>
          <a:xfrm>
            <a:off x="-82825" y="2571750"/>
            <a:ext cx="30000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does this code do?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Selects the </a:t>
            </a:r>
            <a:r>
              <a:rPr b="1" lang="en" sz="1100">
                <a:solidFill>
                  <a:schemeClr val="dk1"/>
                </a:solidFill>
              </a:rPr>
              <a:t>PDCSAP Flux</a:t>
            </a:r>
            <a:r>
              <a:rPr lang="en" sz="1100">
                <a:solidFill>
                  <a:schemeClr val="dk1"/>
                </a:solidFill>
              </a:rPr>
              <a:t> (corrected light curve).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Removes long-term trends using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flatten()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Displays the </a:t>
            </a:r>
            <a:r>
              <a:rPr b="1" lang="en" sz="1100">
                <a:solidFill>
                  <a:schemeClr val="dk1"/>
                </a:solidFill>
              </a:rPr>
              <a:t>normalized light curve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1" name="Google Shape;111;p21"/>
          <p:cNvSpPr txBox="1"/>
          <p:nvPr/>
        </p:nvSpPr>
        <p:spPr>
          <a:xfrm>
            <a:off x="4398075" y="679175"/>
            <a:ext cx="36525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Understanding the Plot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X-axis:</a:t>
            </a:r>
            <a:r>
              <a:rPr lang="en" sz="1100">
                <a:solidFill>
                  <a:schemeClr val="dk1"/>
                </a:solidFill>
              </a:rPr>
              <a:t> Observation Time (BTJD days)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Y-axis:</a:t>
            </a:r>
            <a:r>
              <a:rPr lang="en" sz="1100">
                <a:solidFill>
                  <a:schemeClr val="dk1"/>
                </a:solidFill>
              </a:rPr>
              <a:t> Normalized Flux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brightness is now centred around </a:t>
            </a:r>
            <a:r>
              <a:rPr b="1" lang="en" sz="1100">
                <a:solidFill>
                  <a:schemeClr val="dk1"/>
                </a:solidFill>
              </a:rPr>
              <a:t>1.0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Long-term variations have been removed.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Small brightness dips are now easier to detect.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4472600" y="2571750"/>
            <a:ext cx="4356600" cy="20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Why Normalize the Light Curve?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Before searching for planets, we remove slow changes in brightness caused by: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Instrumental effects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Telescope drift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Stellar variability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This makes the </a:t>
            </a:r>
            <a:r>
              <a:rPr b="1" lang="en" sz="1100">
                <a:solidFill>
                  <a:schemeClr val="dk1"/>
                </a:solidFill>
              </a:rPr>
              <a:t>transit signal stand out more clearly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256151" cy="215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0" y="2700125"/>
            <a:ext cx="3000000" cy="19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does this code do?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Folds</a:t>
            </a:r>
            <a:r>
              <a:rPr lang="en" sz="1100">
                <a:solidFill>
                  <a:schemeClr val="dk1"/>
                </a:solidFill>
              </a:rPr>
              <a:t> the light curve using the detected orbital period.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Aligns all transits on top of each other.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Bins</a:t>
            </a:r>
            <a:r>
              <a:rPr lang="en" sz="1100">
                <a:solidFill>
                  <a:schemeClr val="dk1"/>
                </a:solidFill>
              </a:rPr>
              <a:t> the data to reduce noise.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Highlights the average transit using </a:t>
            </a:r>
            <a:r>
              <a:rPr b="1" lang="en" sz="1100">
                <a:solidFill>
                  <a:schemeClr val="dk1"/>
                </a:solidFill>
              </a:rPr>
              <a:t>red points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5681875" y="145775"/>
            <a:ext cx="300000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Understanding the Plot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Grey points</a:t>
            </a:r>
            <a:r>
              <a:rPr lang="en" sz="1100">
                <a:solidFill>
                  <a:schemeClr val="dk1"/>
                </a:solidFill>
              </a:rPr>
              <a:t> → Individual observations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Red points</a:t>
            </a:r>
            <a:r>
              <a:rPr lang="en" sz="1100">
                <a:solidFill>
                  <a:schemeClr val="dk1"/>
                </a:solidFill>
              </a:rPr>
              <a:t> → Averaged (binned) measurements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X-axis:</a:t>
            </a:r>
            <a:r>
              <a:rPr lang="en" sz="1100">
                <a:solidFill>
                  <a:schemeClr val="dk1"/>
                </a:solidFill>
              </a:rPr>
              <a:t> Orbital Phase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Y-axis:</a:t>
            </a:r>
            <a:r>
              <a:rPr lang="en" sz="1100">
                <a:solidFill>
                  <a:schemeClr val="dk1"/>
                </a:solidFill>
              </a:rPr>
              <a:t> Normalized Flux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Dip at Phase = 0</a:t>
            </a:r>
            <a:r>
              <a:rPr lang="en" sz="1100">
                <a:solidFill>
                  <a:schemeClr val="dk1"/>
                </a:solidFill>
              </a:rPr>
              <a:t> → Planet passing in front of the star (Transit)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0" name="Google Shape;120;p22"/>
          <p:cNvSpPr txBox="1"/>
          <p:nvPr/>
        </p:nvSpPr>
        <p:spPr>
          <a:xfrm>
            <a:off x="4820475" y="2700125"/>
            <a:ext cx="3238500" cy="15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Why Fold the Light Curve?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 single transit is often hidden in noisy data.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By folding the light curve using the orbital period, </a:t>
            </a:r>
            <a:r>
              <a:rPr b="1" lang="en" sz="1100">
                <a:solidFill>
                  <a:schemeClr val="dk1"/>
                </a:solidFill>
              </a:rPr>
              <a:t>all transits line up</a:t>
            </a:r>
            <a:r>
              <a:rPr lang="en" sz="1100">
                <a:solidFill>
                  <a:schemeClr val="dk1"/>
                </a:solidFill>
              </a:rPr>
              <a:t>, making the transit signal much easier to detect.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3"/>
          <p:cNvPicPr preferRelativeResize="0"/>
          <p:nvPr/>
        </p:nvPicPr>
        <p:blipFill rotWithShape="1">
          <a:blip r:embed="rId3">
            <a:alphaModFix/>
          </a:blip>
          <a:srcRect b="0" l="0" r="0" t="2837"/>
          <a:stretch/>
        </p:blipFill>
        <p:spPr>
          <a:xfrm>
            <a:off x="152400" y="289900"/>
            <a:ext cx="6192076" cy="265042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3"/>
          <p:cNvSpPr txBox="1"/>
          <p:nvPr/>
        </p:nvSpPr>
        <p:spPr>
          <a:xfrm>
            <a:off x="314750" y="3122550"/>
            <a:ext cx="30000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does this code do?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Downloads the latest </a:t>
            </a:r>
            <a:r>
              <a:rPr b="1" lang="en" sz="1100">
                <a:solidFill>
                  <a:schemeClr val="dk1"/>
                </a:solidFill>
              </a:rPr>
              <a:t>TESS Objects of Interest (TOI)</a:t>
            </a:r>
            <a:r>
              <a:rPr lang="en" sz="1100">
                <a:solidFill>
                  <a:schemeClr val="dk1"/>
                </a:solidFill>
              </a:rPr>
              <a:t> catalogue.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Loads the catalogue into a </a:t>
            </a:r>
            <a:r>
              <a:rPr b="1" lang="en" sz="1100">
                <a:solidFill>
                  <a:schemeClr val="dk1"/>
                </a:solidFill>
              </a:rPr>
              <a:t>Pandas DataFrame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Displays the first few entries.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6460425" y="1962975"/>
            <a:ext cx="2536200" cy="30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Understanding the Table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TIC ID</a:t>
            </a:r>
            <a:r>
              <a:rPr lang="en" sz="1100">
                <a:solidFill>
                  <a:schemeClr val="dk1"/>
                </a:solidFill>
              </a:rPr>
              <a:t> → Unique identifier for the target star.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TOI</a:t>
            </a:r>
            <a:r>
              <a:rPr lang="en" sz="1100">
                <a:solidFill>
                  <a:schemeClr val="dk1"/>
                </a:solidFill>
              </a:rPr>
              <a:t> → TESS Object of Interest number.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Stellar Radius</a:t>
            </a:r>
            <a:r>
              <a:rPr lang="en" sz="1100">
                <a:solidFill>
                  <a:schemeClr val="dk1"/>
                </a:solidFill>
              </a:rPr>
              <a:t> → Radius of the host star.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Stellar Mass</a:t>
            </a:r>
            <a:r>
              <a:rPr lang="en" sz="1100">
                <a:solidFill>
                  <a:schemeClr val="dk1"/>
                </a:solidFill>
              </a:rPr>
              <a:t> → Mass of the host star.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Additional columns contain information about the star and the detected planet candidate.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75" y="193800"/>
            <a:ext cx="5438775" cy="285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4"/>
          <p:cNvSpPr txBox="1"/>
          <p:nvPr/>
        </p:nvSpPr>
        <p:spPr>
          <a:xfrm>
            <a:off x="5839250" y="306450"/>
            <a:ext cx="3000000" cy="17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does this code do?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Creates a </a:t>
            </a:r>
            <a:r>
              <a:rPr b="1" lang="en" sz="1100">
                <a:solidFill>
                  <a:schemeClr val="dk1"/>
                </a:solidFill>
              </a:rPr>
              <a:t>scatter plot</a:t>
            </a:r>
            <a:r>
              <a:rPr lang="en" sz="1100">
                <a:solidFill>
                  <a:schemeClr val="dk1"/>
                </a:solidFill>
              </a:rPr>
              <a:t> of all TESS Objects of Interest (TOIs).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Compares each planet candidate by its: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Orbital Period (days)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Planet Radius (Earth radii)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34" name="Google Shape;134;p24"/>
          <p:cNvSpPr txBox="1"/>
          <p:nvPr/>
        </p:nvSpPr>
        <p:spPr>
          <a:xfrm>
            <a:off x="5781250" y="2571750"/>
            <a:ext cx="3000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Understanding the Plot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X-axis:</a:t>
            </a:r>
            <a:r>
              <a:rPr lang="en" sz="1100">
                <a:solidFill>
                  <a:schemeClr val="dk1"/>
                </a:solidFill>
              </a:rPr>
              <a:t> Orbital Period (days)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Y-axis:</a:t>
            </a:r>
            <a:r>
              <a:rPr lang="en" sz="1100">
                <a:solidFill>
                  <a:schemeClr val="dk1"/>
                </a:solidFill>
              </a:rPr>
              <a:t> Planet Radius (Earth radii)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Each point</a:t>
            </a:r>
            <a:r>
              <a:rPr lang="en" sz="1100">
                <a:solidFill>
                  <a:schemeClr val="dk1"/>
                </a:solidFill>
              </a:rPr>
              <a:t> represents one exoplanet candidate discovered by TESS.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5" name="Google Shape;135;p24"/>
          <p:cNvSpPr txBox="1"/>
          <p:nvPr/>
        </p:nvSpPr>
        <p:spPr>
          <a:xfrm>
            <a:off x="1330363" y="3213650"/>
            <a:ext cx="3000000" cy="19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can we observe?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Most planets have </a:t>
            </a:r>
            <a:r>
              <a:rPr b="1" lang="en" sz="1100">
                <a:solidFill>
                  <a:schemeClr val="dk1"/>
                </a:solidFill>
              </a:rPr>
              <a:t>short orbital periods</a:t>
            </a:r>
            <a:r>
              <a:rPr lang="en" sz="1100">
                <a:solidFill>
                  <a:schemeClr val="dk1"/>
                </a:solidFill>
              </a:rPr>
              <a:t> (less than ~100 days).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Most detected planets are </a:t>
            </a:r>
            <a:r>
              <a:rPr b="1" lang="en" sz="1100">
                <a:solidFill>
                  <a:schemeClr val="dk1"/>
                </a:solidFill>
              </a:rPr>
              <a:t>smaller than about 10 Earth radii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 few planets have </a:t>
            </a:r>
            <a:r>
              <a:rPr b="1" lang="en" sz="1100">
                <a:solidFill>
                  <a:schemeClr val="dk1"/>
                </a:solidFill>
              </a:rPr>
              <a:t>very large radii or long orbital periods</a:t>
            </a:r>
            <a:r>
              <a:rPr lang="en" sz="1100">
                <a:solidFill>
                  <a:schemeClr val="dk1"/>
                </a:solidFill>
              </a:rPr>
              <a:t>, making them relatively rare.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